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7" r:id="rId1"/>
  </p:sldMasterIdLst>
  <p:sldIdLst>
    <p:sldId id="256" r:id="rId2"/>
    <p:sldId id="257" r:id="rId3"/>
    <p:sldId id="258" r:id="rId4"/>
    <p:sldId id="260" r:id="rId5"/>
    <p:sldId id="261" r:id="rId6"/>
    <p:sldId id="262" r:id="rId7"/>
    <p:sldId id="263" r:id="rId8"/>
    <p:sldId id="264" r:id="rId9"/>
    <p:sldId id="266" r:id="rId10"/>
    <p:sldId id="265" r:id="rId11"/>
    <p:sldId id="267" r:id="rId12"/>
    <p:sldId id="268" r:id="rId13"/>
    <p:sldId id="269" r:id="rId14"/>
    <p:sldId id="270" r:id="rId15"/>
    <p:sldId id="271"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107" d="100"/>
          <a:sy n="107" d="100"/>
        </p:scale>
        <p:origin x="696"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lan shear" userId="9203ecaab7734b1f" providerId="LiveId" clId="{C174836B-E85B-4D85-96BE-FDEA0E72A4CB}"/>
    <pc:docChg chg="custSel addSld delSld modSld">
      <pc:chgData name="allan shear" userId="9203ecaab7734b1f" providerId="LiveId" clId="{C174836B-E85B-4D85-96BE-FDEA0E72A4CB}" dt="2026-03-26T08:07:05.948" v="1602" actId="27636"/>
      <pc:docMkLst>
        <pc:docMk/>
      </pc:docMkLst>
      <pc:sldChg chg="modSp mod">
        <pc:chgData name="allan shear" userId="9203ecaab7734b1f" providerId="LiveId" clId="{C174836B-E85B-4D85-96BE-FDEA0E72A4CB}" dt="2026-03-26T08:07:05.906" v="1600" actId="27636"/>
        <pc:sldMkLst>
          <pc:docMk/>
          <pc:sldMk cId="1234883848" sldId="256"/>
        </pc:sldMkLst>
        <pc:spChg chg="mod">
          <ac:chgData name="allan shear" userId="9203ecaab7734b1f" providerId="LiveId" clId="{C174836B-E85B-4D85-96BE-FDEA0E72A4CB}" dt="2026-03-26T08:07:05.872" v="1599"/>
          <ac:spMkLst>
            <pc:docMk/>
            <pc:sldMk cId="1234883848" sldId="256"/>
            <ac:spMk id="2" creationId="{75B4F8D0-81BA-6B97-1720-E0ED68AE8C61}"/>
          </ac:spMkLst>
        </pc:spChg>
        <pc:spChg chg="mod">
          <ac:chgData name="allan shear" userId="9203ecaab7734b1f" providerId="LiveId" clId="{C174836B-E85B-4D85-96BE-FDEA0E72A4CB}" dt="2026-03-26T08:07:05.906" v="1600" actId="27636"/>
          <ac:spMkLst>
            <pc:docMk/>
            <pc:sldMk cId="1234883848" sldId="256"/>
            <ac:spMk id="3" creationId="{83AC8277-8F13-B069-54F1-DBB19040D9B4}"/>
          </ac:spMkLst>
        </pc:spChg>
      </pc:sldChg>
      <pc:sldChg chg="modSp">
        <pc:chgData name="allan shear" userId="9203ecaab7734b1f" providerId="LiveId" clId="{C174836B-E85B-4D85-96BE-FDEA0E72A4CB}" dt="2026-03-26T08:07:05.872" v="1599"/>
        <pc:sldMkLst>
          <pc:docMk/>
          <pc:sldMk cId="2180095008" sldId="257"/>
        </pc:sldMkLst>
        <pc:spChg chg="mod">
          <ac:chgData name="allan shear" userId="9203ecaab7734b1f" providerId="LiveId" clId="{C174836B-E85B-4D85-96BE-FDEA0E72A4CB}" dt="2026-03-26T08:07:05.872" v="1599"/>
          <ac:spMkLst>
            <pc:docMk/>
            <pc:sldMk cId="2180095008" sldId="257"/>
            <ac:spMk id="3" creationId="{6F868FC3-B629-3153-059D-32BB03E5C8BE}"/>
          </ac:spMkLst>
        </pc:spChg>
      </pc:sldChg>
      <pc:sldChg chg="modSp mod">
        <pc:chgData name="allan shear" userId="9203ecaab7734b1f" providerId="LiveId" clId="{C174836B-E85B-4D85-96BE-FDEA0E72A4CB}" dt="2026-03-26T08:07:05.872" v="1599"/>
        <pc:sldMkLst>
          <pc:docMk/>
          <pc:sldMk cId="3098463124" sldId="258"/>
        </pc:sldMkLst>
        <pc:spChg chg="mod">
          <ac:chgData name="allan shear" userId="9203ecaab7734b1f" providerId="LiveId" clId="{C174836B-E85B-4D85-96BE-FDEA0E72A4CB}" dt="2026-03-26T08:07:05.872" v="1599"/>
          <ac:spMkLst>
            <pc:docMk/>
            <pc:sldMk cId="3098463124" sldId="258"/>
            <ac:spMk id="2" creationId="{F9D4E4E0-E0E0-BE71-77C8-ECEAE45871BF}"/>
          </ac:spMkLst>
        </pc:spChg>
        <pc:spChg chg="mod">
          <ac:chgData name="allan shear" userId="9203ecaab7734b1f" providerId="LiveId" clId="{C174836B-E85B-4D85-96BE-FDEA0E72A4CB}" dt="2026-03-26T08:07:05.872" v="1599"/>
          <ac:spMkLst>
            <pc:docMk/>
            <pc:sldMk cId="3098463124" sldId="258"/>
            <ac:spMk id="3" creationId="{C94A3012-5548-190D-E3BB-5CE3DE6133E4}"/>
          </ac:spMkLst>
        </pc:spChg>
      </pc:sldChg>
      <pc:sldChg chg="modSp">
        <pc:chgData name="allan shear" userId="9203ecaab7734b1f" providerId="LiveId" clId="{C174836B-E85B-4D85-96BE-FDEA0E72A4CB}" dt="2026-03-26T08:07:05.872" v="1599"/>
        <pc:sldMkLst>
          <pc:docMk/>
          <pc:sldMk cId="485539188" sldId="260"/>
        </pc:sldMkLst>
        <pc:spChg chg="mod">
          <ac:chgData name="allan shear" userId="9203ecaab7734b1f" providerId="LiveId" clId="{C174836B-E85B-4D85-96BE-FDEA0E72A4CB}" dt="2026-03-26T08:07:05.872" v="1599"/>
          <ac:spMkLst>
            <pc:docMk/>
            <pc:sldMk cId="485539188" sldId="260"/>
            <ac:spMk id="2" creationId="{3E64F40E-789F-4A47-0115-353343A53513}"/>
          </ac:spMkLst>
        </pc:spChg>
      </pc:sldChg>
      <pc:sldChg chg="modSp">
        <pc:chgData name="allan shear" userId="9203ecaab7734b1f" providerId="LiveId" clId="{C174836B-E85B-4D85-96BE-FDEA0E72A4CB}" dt="2026-03-26T08:07:05.872" v="1599"/>
        <pc:sldMkLst>
          <pc:docMk/>
          <pc:sldMk cId="4024642590" sldId="261"/>
        </pc:sldMkLst>
        <pc:spChg chg="mod">
          <ac:chgData name="allan shear" userId="9203ecaab7734b1f" providerId="LiveId" clId="{C174836B-E85B-4D85-96BE-FDEA0E72A4CB}" dt="2026-03-26T08:07:05.872" v="1599"/>
          <ac:spMkLst>
            <pc:docMk/>
            <pc:sldMk cId="4024642590" sldId="261"/>
            <ac:spMk id="6" creationId="{0FC08A94-261F-CC21-D8F4-C7E8151C3DFA}"/>
          </ac:spMkLst>
        </pc:spChg>
        <pc:spChg chg="mod">
          <ac:chgData name="allan shear" userId="9203ecaab7734b1f" providerId="LiveId" clId="{C174836B-E85B-4D85-96BE-FDEA0E72A4CB}" dt="2026-03-26T08:07:05.872" v="1599"/>
          <ac:spMkLst>
            <pc:docMk/>
            <pc:sldMk cId="4024642590" sldId="261"/>
            <ac:spMk id="7" creationId="{AB2CBE5D-EE75-4545-1D32-E578E01FA789}"/>
          </ac:spMkLst>
        </pc:spChg>
      </pc:sldChg>
      <pc:sldChg chg="modSp">
        <pc:chgData name="allan shear" userId="9203ecaab7734b1f" providerId="LiveId" clId="{C174836B-E85B-4D85-96BE-FDEA0E72A4CB}" dt="2026-03-26T08:07:05.872" v="1599"/>
        <pc:sldMkLst>
          <pc:docMk/>
          <pc:sldMk cId="689744469" sldId="262"/>
        </pc:sldMkLst>
        <pc:spChg chg="mod">
          <ac:chgData name="allan shear" userId="9203ecaab7734b1f" providerId="LiveId" clId="{C174836B-E85B-4D85-96BE-FDEA0E72A4CB}" dt="2026-03-26T08:07:05.872" v="1599"/>
          <ac:spMkLst>
            <pc:docMk/>
            <pc:sldMk cId="689744469" sldId="262"/>
            <ac:spMk id="2" creationId="{28B57E81-B72C-11A3-3CA9-D1092D021A60}"/>
          </ac:spMkLst>
        </pc:spChg>
      </pc:sldChg>
      <pc:sldChg chg="modSp mod">
        <pc:chgData name="allan shear" userId="9203ecaab7734b1f" providerId="LiveId" clId="{C174836B-E85B-4D85-96BE-FDEA0E72A4CB}" dt="2026-03-26T08:07:05.872" v="1599"/>
        <pc:sldMkLst>
          <pc:docMk/>
          <pc:sldMk cId="3644488783" sldId="263"/>
        </pc:sldMkLst>
        <pc:spChg chg="mod">
          <ac:chgData name="allan shear" userId="9203ecaab7734b1f" providerId="LiveId" clId="{C174836B-E85B-4D85-96BE-FDEA0E72A4CB}" dt="2026-03-26T08:07:05.872" v="1599"/>
          <ac:spMkLst>
            <pc:docMk/>
            <pc:sldMk cId="3644488783" sldId="263"/>
            <ac:spMk id="2" creationId="{CCCDFA19-E068-1911-DC7A-AAFB2C96B5C0}"/>
          </ac:spMkLst>
        </pc:spChg>
        <pc:spChg chg="mod">
          <ac:chgData name="allan shear" userId="9203ecaab7734b1f" providerId="LiveId" clId="{C174836B-E85B-4D85-96BE-FDEA0E72A4CB}" dt="2026-03-26T08:05:43.887" v="1584" actId="27636"/>
          <ac:spMkLst>
            <pc:docMk/>
            <pc:sldMk cId="3644488783" sldId="263"/>
            <ac:spMk id="3" creationId="{5C5EA384-0236-7795-3526-9F5CA42AF193}"/>
          </ac:spMkLst>
        </pc:spChg>
      </pc:sldChg>
      <pc:sldChg chg="modSp mod">
        <pc:chgData name="allan shear" userId="9203ecaab7734b1f" providerId="LiveId" clId="{C174836B-E85B-4D85-96BE-FDEA0E72A4CB}" dt="2026-03-26T08:07:05.935" v="1601" actId="27636"/>
        <pc:sldMkLst>
          <pc:docMk/>
          <pc:sldMk cId="3683282932" sldId="264"/>
        </pc:sldMkLst>
        <pc:spChg chg="mod">
          <ac:chgData name="allan shear" userId="9203ecaab7734b1f" providerId="LiveId" clId="{C174836B-E85B-4D85-96BE-FDEA0E72A4CB}" dt="2026-03-26T08:07:05.872" v="1599"/>
          <ac:spMkLst>
            <pc:docMk/>
            <pc:sldMk cId="3683282932" sldId="264"/>
            <ac:spMk id="2" creationId="{DBB29FC3-1D2E-5FE0-43E8-BCFDB58E8ECD}"/>
          </ac:spMkLst>
        </pc:spChg>
        <pc:spChg chg="mod">
          <ac:chgData name="allan shear" userId="9203ecaab7734b1f" providerId="LiveId" clId="{C174836B-E85B-4D85-96BE-FDEA0E72A4CB}" dt="2026-03-26T08:07:05.935" v="1601" actId="27636"/>
          <ac:spMkLst>
            <pc:docMk/>
            <pc:sldMk cId="3683282932" sldId="264"/>
            <ac:spMk id="3" creationId="{0C82FDED-1058-3D60-E958-387175077C1F}"/>
          </ac:spMkLst>
        </pc:spChg>
      </pc:sldChg>
      <pc:sldChg chg="modSp new mod">
        <pc:chgData name="allan shear" userId="9203ecaab7734b1f" providerId="LiveId" clId="{C174836B-E85B-4D85-96BE-FDEA0E72A4CB}" dt="2026-03-26T08:07:05.872" v="1599"/>
        <pc:sldMkLst>
          <pc:docMk/>
          <pc:sldMk cId="3057516621" sldId="265"/>
        </pc:sldMkLst>
        <pc:spChg chg="mod">
          <ac:chgData name="allan shear" userId="9203ecaab7734b1f" providerId="LiveId" clId="{C174836B-E85B-4D85-96BE-FDEA0E72A4CB}" dt="2026-03-26T08:07:05.872" v="1599"/>
          <ac:spMkLst>
            <pc:docMk/>
            <pc:sldMk cId="3057516621" sldId="265"/>
            <ac:spMk id="2" creationId="{0407812B-D69C-94B9-43A3-4238CDBB3CAB}"/>
          </ac:spMkLst>
        </pc:spChg>
        <pc:spChg chg="mod">
          <ac:chgData name="allan shear" userId="9203ecaab7734b1f" providerId="LiveId" clId="{C174836B-E85B-4D85-96BE-FDEA0E72A4CB}" dt="2026-03-26T08:07:05.872" v="1599"/>
          <ac:spMkLst>
            <pc:docMk/>
            <pc:sldMk cId="3057516621" sldId="265"/>
            <ac:spMk id="3" creationId="{B0C0996D-019B-CF7A-88A3-A395E29B7BA2}"/>
          </ac:spMkLst>
        </pc:spChg>
      </pc:sldChg>
      <pc:sldChg chg="new del">
        <pc:chgData name="allan shear" userId="9203ecaab7734b1f" providerId="LiveId" clId="{C174836B-E85B-4D85-96BE-FDEA0E72A4CB}" dt="2026-03-26T06:42:31.588" v="139" actId="2696"/>
        <pc:sldMkLst>
          <pc:docMk/>
          <pc:sldMk cId="3593690181" sldId="265"/>
        </pc:sldMkLst>
      </pc:sldChg>
      <pc:sldChg chg="modSp new mod">
        <pc:chgData name="allan shear" userId="9203ecaab7734b1f" providerId="LiveId" clId="{C174836B-E85B-4D85-96BE-FDEA0E72A4CB}" dt="2026-03-26T08:07:05.872" v="1599"/>
        <pc:sldMkLst>
          <pc:docMk/>
          <pc:sldMk cId="1141234945" sldId="266"/>
        </pc:sldMkLst>
        <pc:spChg chg="mod">
          <ac:chgData name="allan shear" userId="9203ecaab7734b1f" providerId="LiveId" clId="{C174836B-E85B-4D85-96BE-FDEA0E72A4CB}" dt="2026-03-26T08:07:05.872" v="1599"/>
          <ac:spMkLst>
            <pc:docMk/>
            <pc:sldMk cId="1141234945" sldId="266"/>
            <ac:spMk id="2" creationId="{FE64ED93-88DE-F5B8-6E8E-975774DC04A9}"/>
          </ac:spMkLst>
        </pc:spChg>
        <pc:spChg chg="mod">
          <ac:chgData name="allan shear" userId="9203ecaab7734b1f" providerId="LiveId" clId="{C174836B-E85B-4D85-96BE-FDEA0E72A4CB}" dt="2026-03-26T08:07:05.872" v="1599"/>
          <ac:spMkLst>
            <pc:docMk/>
            <pc:sldMk cId="1141234945" sldId="266"/>
            <ac:spMk id="3" creationId="{407D3A6D-E599-391D-8109-6177D1B1506D}"/>
          </ac:spMkLst>
        </pc:spChg>
      </pc:sldChg>
      <pc:sldChg chg="modSp new mod">
        <pc:chgData name="allan shear" userId="9203ecaab7734b1f" providerId="LiveId" clId="{C174836B-E85B-4D85-96BE-FDEA0E72A4CB}" dt="2026-03-26T08:07:05.872" v="1599"/>
        <pc:sldMkLst>
          <pc:docMk/>
          <pc:sldMk cId="3102606321" sldId="267"/>
        </pc:sldMkLst>
        <pc:spChg chg="mod">
          <ac:chgData name="allan shear" userId="9203ecaab7734b1f" providerId="LiveId" clId="{C174836B-E85B-4D85-96BE-FDEA0E72A4CB}" dt="2026-03-26T08:07:05.872" v="1599"/>
          <ac:spMkLst>
            <pc:docMk/>
            <pc:sldMk cId="3102606321" sldId="267"/>
            <ac:spMk id="2" creationId="{E8F15343-3E6D-54AB-B904-CB15D2BF8108}"/>
          </ac:spMkLst>
        </pc:spChg>
        <pc:spChg chg="mod">
          <ac:chgData name="allan shear" userId="9203ecaab7734b1f" providerId="LiveId" clId="{C174836B-E85B-4D85-96BE-FDEA0E72A4CB}" dt="2026-03-26T08:07:05.872" v="1599"/>
          <ac:spMkLst>
            <pc:docMk/>
            <pc:sldMk cId="3102606321" sldId="267"/>
            <ac:spMk id="3" creationId="{50D55619-69DF-ADB7-A5A4-A684BFAADF27}"/>
          </ac:spMkLst>
        </pc:spChg>
      </pc:sldChg>
      <pc:sldChg chg="modSp new mod">
        <pc:chgData name="allan shear" userId="9203ecaab7734b1f" providerId="LiveId" clId="{C174836B-E85B-4D85-96BE-FDEA0E72A4CB}" dt="2026-03-26T08:07:05.872" v="1599"/>
        <pc:sldMkLst>
          <pc:docMk/>
          <pc:sldMk cId="1026006934" sldId="268"/>
        </pc:sldMkLst>
        <pc:spChg chg="mod">
          <ac:chgData name="allan shear" userId="9203ecaab7734b1f" providerId="LiveId" clId="{C174836B-E85B-4D85-96BE-FDEA0E72A4CB}" dt="2026-03-26T08:07:05.872" v="1599"/>
          <ac:spMkLst>
            <pc:docMk/>
            <pc:sldMk cId="1026006934" sldId="268"/>
            <ac:spMk id="2" creationId="{B413B96E-FA8E-A070-21FB-7BF2F1CF1585}"/>
          </ac:spMkLst>
        </pc:spChg>
        <pc:spChg chg="mod">
          <ac:chgData name="allan shear" userId="9203ecaab7734b1f" providerId="LiveId" clId="{C174836B-E85B-4D85-96BE-FDEA0E72A4CB}" dt="2026-03-26T08:07:05.872" v="1599"/>
          <ac:spMkLst>
            <pc:docMk/>
            <pc:sldMk cId="1026006934" sldId="268"/>
            <ac:spMk id="3" creationId="{06CE3707-EF19-2C22-A406-8C9396B00B22}"/>
          </ac:spMkLst>
        </pc:spChg>
      </pc:sldChg>
      <pc:sldChg chg="modSp new mod">
        <pc:chgData name="allan shear" userId="9203ecaab7734b1f" providerId="LiveId" clId="{C174836B-E85B-4D85-96BE-FDEA0E72A4CB}" dt="2026-03-26T08:07:05.872" v="1599"/>
        <pc:sldMkLst>
          <pc:docMk/>
          <pc:sldMk cId="3838320689" sldId="269"/>
        </pc:sldMkLst>
        <pc:spChg chg="mod">
          <ac:chgData name="allan shear" userId="9203ecaab7734b1f" providerId="LiveId" clId="{C174836B-E85B-4D85-96BE-FDEA0E72A4CB}" dt="2026-03-26T08:07:05.872" v="1599"/>
          <ac:spMkLst>
            <pc:docMk/>
            <pc:sldMk cId="3838320689" sldId="269"/>
            <ac:spMk id="2" creationId="{27B3180D-AB1D-B181-38B8-A1BB03BA82C9}"/>
          </ac:spMkLst>
        </pc:spChg>
        <pc:spChg chg="mod">
          <ac:chgData name="allan shear" userId="9203ecaab7734b1f" providerId="LiveId" clId="{C174836B-E85B-4D85-96BE-FDEA0E72A4CB}" dt="2026-03-26T08:07:05.872" v="1599"/>
          <ac:spMkLst>
            <pc:docMk/>
            <pc:sldMk cId="3838320689" sldId="269"/>
            <ac:spMk id="3" creationId="{E661481D-DB32-CA87-2D88-FAAB238664B3}"/>
          </ac:spMkLst>
        </pc:spChg>
      </pc:sldChg>
      <pc:sldChg chg="modSp new mod">
        <pc:chgData name="allan shear" userId="9203ecaab7734b1f" providerId="LiveId" clId="{C174836B-E85B-4D85-96BE-FDEA0E72A4CB}" dt="2026-03-26T08:07:05.948" v="1602" actId="27636"/>
        <pc:sldMkLst>
          <pc:docMk/>
          <pc:sldMk cId="2087675537" sldId="270"/>
        </pc:sldMkLst>
        <pc:spChg chg="mod">
          <ac:chgData name="allan shear" userId="9203ecaab7734b1f" providerId="LiveId" clId="{C174836B-E85B-4D85-96BE-FDEA0E72A4CB}" dt="2026-03-26T08:07:05.872" v="1599"/>
          <ac:spMkLst>
            <pc:docMk/>
            <pc:sldMk cId="2087675537" sldId="270"/>
            <ac:spMk id="2" creationId="{BE8F6F89-33D5-7C97-D4C2-C6F8F86C9E08}"/>
          </ac:spMkLst>
        </pc:spChg>
        <pc:spChg chg="mod">
          <ac:chgData name="allan shear" userId="9203ecaab7734b1f" providerId="LiveId" clId="{C174836B-E85B-4D85-96BE-FDEA0E72A4CB}" dt="2026-03-26T08:07:05.948" v="1602" actId="27636"/>
          <ac:spMkLst>
            <pc:docMk/>
            <pc:sldMk cId="2087675537" sldId="270"/>
            <ac:spMk id="3" creationId="{F50E792B-70D7-D8BB-B3A6-45378529599B}"/>
          </ac:spMkLst>
        </pc:spChg>
      </pc:sldChg>
      <pc:sldChg chg="addSp modSp new mod modClrScheme chgLayout">
        <pc:chgData name="allan shear" userId="9203ecaab7734b1f" providerId="LiveId" clId="{C174836B-E85B-4D85-96BE-FDEA0E72A4CB}" dt="2026-03-26T08:07:05.872" v="1599"/>
        <pc:sldMkLst>
          <pc:docMk/>
          <pc:sldMk cId="2030671485" sldId="271"/>
        </pc:sldMkLst>
        <pc:spChg chg="add mod">
          <ac:chgData name="allan shear" userId="9203ecaab7734b1f" providerId="LiveId" clId="{C174836B-E85B-4D85-96BE-FDEA0E72A4CB}" dt="2026-03-26T08:07:05.872" v="1599"/>
          <ac:spMkLst>
            <pc:docMk/>
            <pc:sldMk cId="2030671485" sldId="271"/>
            <ac:spMk id="2" creationId="{0A8F51BB-2BB4-2EE1-12EC-5F3576583F02}"/>
          </ac:spMkLst>
        </pc:spChg>
        <pc:spChg chg="add mod">
          <ac:chgData name="allan shear" userId="9203ecaab7734b1f" providerId="LiveId" clId="{C174836B-E85B-4D85-96BE-FDEA0E72A4CB}" dt="2026-03-26T08:07:05.872" v="1599"/>
          <ac:spMkLst>
            <pc:docMk/>
            <pc:sldMk cId="2030671485" sldId="271"/>
            <ac:spMk id="3" creationId="{25359BF2-4B48-AC7B-79A8-182B9A96800F}"/>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01E44FC-DF4B-486B-8A44-9D0A9461B56E}" type="datetimeFigureOut">
              <a:rPr lang="en-US" smtClean="0"/>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E3D258-86B2-491A-820B-412C7E6E1211}" type="slidenum">
              <a:rPr lang="en-US" smtClean="0"/>
              <a:t>‹#›</a:t>
            </a:fld>
            <a:endParaRPr lang="en-US"/>
          </a:p>
        </p:txBody>
      </p:sp>
    </p:spTree>
    <p:extLst>
      <p:ext uri="{BB962C8B-B14F-4D97-AF65-F5344CB8AC3E}">
        <p14:creationId xmlns:p14="http://schemas.microsoft.com/office/powerpoint/2010/main" val="16527871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01E44FC-DF4B-486B-8A44-9D0A9461B56E}" type="datetimeFigureOut">
              <a:rPr lang="en-US" smtClean="0"/>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E3D258-86B2-491A-820B-412C7E6E1211}" type="slidenum">
              <a:rPr lang="en-US" smtClean="0"/>
              <a:t>‹#›</a:t>
            </a:fld>
            <a:endParaRPr lang="en-US"/>
          </a:p>
        </p:txBody>
      </p:sp>
    </p:spTree>
    <p:extLst>
      <p:ext uri="{BB962C8B-B14F-4D97-AF65-F5344CB8AC3E}">
        <p14:creationId xmlns:p14="http://schemas.microsoft.com/office/powerpoint/2010/main" val="25850587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1E44FC-DF4B-486B-8A44-9D0A9461B56E}" type="datetimeFigureOut">
              <a:rPr lang="en-US" smtClean="0"/>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E3D258-86B2-491A-820B-412C7E6E1211}" type="slidenum">
              <a:rPr lang="en-US" smtClean="0"/>
              <a:t>‹#›</a:t>
            </a:fld>
            <a:endParaRPr lang="en-US"/>
          </a:p>
        </p:txBody>
      </p:sp>
    </p:spTree>
    <p:extLst>
      <p:ext uri="{BB962C8B-B14F-4D97-AF65-F5344CB8AC3E}">
        <p14:creationId xmlns:p14="http://schemas.microsoft.com/office/powerpoint/2010/main" val="37187079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01E44FC-DF4B-486B-8A44-9D0A9461B56E}" type="datetimeFigureOut">
              <a:rPr lang="en-US" smtClean="0"/>
              <a:t>3/26/2026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4E3D258-86B2-491A-820B-412C7E6E1211}" type="slidenum">
              <a:rPr lang="en-US" smtClean="0"/>
              <a:t>‹#›</a:t>
            </a:fld>
            <a:endParaRPr lang="en-US"/>
          </a:p>
        </p:txBody>
      </p:sp>
    </p:spTree>
    <p:extLst>
      <p:ext uri="{BB962C8B-B14F-4D97-AF65-F5344CB8AC3E}">
        <p14:creationId xmlns:p14="http://schemas.microsoft.com/office/powerpoint/2010/main" val="27449806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01E44FC-DF4B-486B-8A44-9D0A9461B56E}" type="datetimeFigureOut">
              <a:rPr lang="en-US" smtClean="0"/>
              <a:t>3/26/2026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4E3D258-86B2-491A-820B-412C7E6E1211}" type="slidenum">
              <a:rPr lang="en-US" smtClean="0"/>
              <a:t>‹#›</a:t>
            </a:fld>
            <a:endParaRPr lang="en-US"/>
          </a:p>
        </p:txBody>
      </p:sp>
    </p:spTree>
    <p:extLst>
      <p:ext uri="{BB962C8B-B14F-4D97-AF65-F5344CB8AC3E}">
        <p14:creationId xmlns:p14="http://schemas.microsoft.com/office/powerpoint/2010/main" val="13939113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01E44FC-DF4B-486B-8A44-9D0A9461B56E}" type="datetimeFigureOut">
              <a:rPr lang="en-US" smtClean="0"/>
              <a:t>3/26/2026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4E3D258-86B2-491A-820B-412C7E6E1211}" type="slidenum">
              <a:rPr lang="en-US" smtClean="0"/>
              <a:t>‹#›</a:t>
            </a:fld>
            <a:endParaRPr lang="en-US"/>
          </a:p>
        </p:txBody>
      </p:sp>
    </p:spTree>
    <p:extLst>
      <p:ext uri="{BB962C8B-B14F-4D97-AF65-F5344CB8AC3E}">
        <p14:creationId xmlns:p14="http://schemas.microsoft.com/office/powerpoint/2010/main" val="9112676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01E44FC-DF4B-486B-8A44-9D0A9461B56E}" type="datetimeFigureOut">
              <a:rPr lang="en-US" smtClean="0"/>
              <a:t>3/26/2026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4E3D258-86B2-491A-820B-412C7E6E1211}" type="slidenum">
              <a:rPr lang="en-US" smtClean="0"/>
              <a:t>‹#›</a:t>
            </a:fld>
            <a:endParaRPr lang="en-US"/>
          </a:p>
        </p:txBody>
      </p:sp>
    </p:spTree>
    <p:extLst>
      <p:ext uri="{BB962C8B-B14F-4D97-AF65-F5344CB8AC3E}">
        <p14:creationId xmlns:p14="http://schemas.microsoft.com/office/powerpoint/2010/main" val="6670119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01E44FC-DF4B-486B-8A44-9D0A9461B56E}" type="datetimeFigureOut">
              <a:rPr lang="en-US" smtClean="0"/>
              <a:t>3/26/2026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4E3D258-86B2-491A-820B-412C7E6E1211}" type="slidenum">
              <a:rPr lang="en-US" smtClean="0"/>
              <a:t>‹#›</a:t>
            </a:fld>
            <a:endParaRPr lang="en-US"/>
          </a:p>
        </p:txBody>
      </p:sp>
    </p:spTree>
    <p:extLst>
      <p:ext uri="{BB962C8B-B14F-4D97-AF65-F5344CB8AC3E}">
        <p14:creationId xmlns:p14="http://schemas.microsoft.com/office/powerpoint/2010/main" val="12089279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01E44FC-DF4B-486B-8A44-9D0A9461B56E}" type="datetimeFigureOut">
              <a:rPr lang="en-US" smtClean="0"/>
              <a:t>3/26/2026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4E3D258-86B2-491A-820B-412C7E6E1211}" type="slidenum">
              <a:rPr lang="en-US" smtClean="0"/>
              <a:t>‹#›</a:t>
            </a:fld>
            <a:endParaRPr lang="en-US"/>
          </a:p>
        </p:txBody>
      </p:sp>
    </p:spTree>
    <p:extLst>
      <p:ext uri="{BB962C8B-B14F-4D97-AF65-F5344CB8AC3E}">
        <p14:creationId xmlns:p14="http://schemas.microsoft.com/office/powerpoint/2010/main" val="24407540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1E44FC-DF4B-486B-8A44-9D0A9461B56E}" type="datetimeFigureOut">
              <a:rPr lang="en-US" smtClean="0"/>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E3D258-86B2-491A-820B-412C7E6E1211}" type="slidenum">
              <a:rPr lang="en-US" smtClean="0"/>
              <a:t>‹#›</a:t>
            </a:fld>
            <a:endParaRPr lang="en-US"/>
          </a:p>
        </p:txBody>
      </p:sp>
    </p:spTree>
    <p:extLst>
      <p:ext uri="{BB962C8B-B14F-4D97-AF65-F5344CB8AC3E}">
        <p14:creationId xmlns:p14="http://schemas.microsoft.com/office/powerpoint/2010/main" val="42273056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1E44FC-DF4B-486B-8A44-9D0A9461B56E}" type="datetimeFigureOut">
              <a:rPr lang="en-US" smtClean="0"/>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E3D258-86B2-491A-820B-412C7E6E1211}"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7889610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1E44FC-DF4B-486B-8A44-9D0A9461B56E}" type="datetimeFigureOut">
              <a:rPr lang="en-US" smtClean="0"/>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E3D258-86B2-491A-820B-412C7E6E1211}" type="slidenum">
              <a:rPr lang="en-US" smtClean="0"/>
              <a:t>‹#›</a:t>
            </a:fld>
            <a:endParaRPr lang="en-US"/>
          </a:p>
        </p:txBody>
      </p:sp>
    </p:spTree>
    <p:extLst>
      <p:ext uri="{BB962C8B-B14F-4D97-AF65-F5344CB8AC3E}">
        <p14:creationId xmlns:p14="http://schemas.microsoft.com/office/powerpoint/2010/main" val="4249471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1E44FC-DF4B-486B-8A44-9D0A9461B56E}" type="datetimeFigureOut">
              <a:rPr lang="en-US" smtClean="0"/>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E3D258-86B2-491A-820B-412C7E6E1211}"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4647970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1E44FC-DF4B-486B-8A44-9D0A9461B56E}" type="datetimeFigureOut">
              <a:rPr lang="en-US" smtClean="0"/>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E3D258-86B2-491A-820B-412C7E6E1211}" type="slidenum">
              <a:rPr lang="en-US" smtClean="0"/>
              <a:t>‹#›</a:t>
            </a:fld>
            <a:endParaRPr lang="en-US"/>
          </a:p>
        </p:txBody>
      </p:sp>
    </p:spTree>
    <p:extLst>
      <p:ext uri="{BB962C8B-B14F-4D97-AF65-F5344CB8AC3E}">
        <p14:creationId xmlns:p14="http://schemas.microsoft.com/office/powerpoint/2010/main" val="11711225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01E44FC-DF4B-486B-8A44-9D0A9461B56E}" type="datetimeFigureOut">
              <a:rPr lang="en-US" smtClean="0"/>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E3D258-86B2-491A-820B-412C7E6E1211}" type="slidenum">
              <a:rPr lang="en-US" smtClean="0"/>
              <a:t>‹#›</a:t>
            </a:fld>
            <a:endParaRPr lang="en-US"/>
          </a:p>
        </p:txBody>
      </p:sp>
    </p:spTree>
    <p:extLst>
      <p:ext uri="{BB962C8B-B14F-4D97-AF65-F5344CB8AC3E}">
        <p14:creationId xmlns:p14="http://schemas.microsoft.com/office/powerpoint/2010/main" val="2243130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01E44FC-DF4B-486B-8A44-9D0A9461B56E}" type="datetimeFigureOut">
              <a:rPr lang="en-US" smtClean="0"/>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E3D258-86B2-491A-820B-412C7E6E1211}" type="slidenum">
              <a:rPr lang="en-US" smtClean="0"/>
              <a:t>‹#›</a:t>
            </a:fld>
            <a:endParaRPr lang="en-US"/>
          </a:p>
        </p:txBody>
      </p:sp>
    </p:spTree>
    <p:extLst>
      <p:ext uri="{BB962C8B-B14F-4D97-AF65-F5344CB8AC3E}">
        <p14:creationId xmlns:p14="http://schemas.microsoft.com/office/powerpoint/2010/main" val="1572150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201E44FC-DF4B-486B-8A44-9D0A9461B56E}" type="datetimeFigureOut">
              <a:rPr lang="en-US" smtClean="0"/>
              <a:t>3/26/2026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94E3D258-86B2-491A-820B-412C7E6E1211}" type="slidenum">
              <a:rPr lang="en-US" smtClean="0"/>
              <a:t>‹#›</a:t>
            </a:fld>
            <a:endParaRPr lang="en-US"/>
          </a:p>
        </p:txBody>
      </p:sp>
    </p:spTree>
    <p:extLst>
      <p:ext uri="{BB962C8B-B14F-4D97-AF65-F5344CB8AC3E}">
        <p14:creationId xmlns:p14="http://schemas.microsoft.com/office/powerpoint/2010/main" val="4253225541"/>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 id="2147483750" r:id="rId13"/>
    <p:sldLayoutId id="2147483751" r:id="rId14"/>
    <p:sldLayoutId id="2147483752" r:id="rId15"/>
    <p:sldLayoutId id="214748375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4F8D0-81BA-6B97-1720-E0ED68AE8C61}"/>
              </a:ext>
            </a:extLst>
          </p:cNvPr>
          <p:cNvSpPr>
            <a:spLocks noGrp="1"/>
          </p:cNvSpPr>
          <p:nvPr>
            <p:ph type="ctrTitle"/>
          </p:nvPr>
        </p:nvSpPr>
        <p:spPr/>
        <p:txBody>
          <a:bodyPr>
            <a:normAutofit fontScale="90000"/>
          </a:bodyPr>
          <a:lstStyle/>
          <a:p>
            <a:pPr algn="l"/>
            <a:r>
              <a:rPr lang="en-US" b="1" dirty="0">
                <a:solidFill>
                  <a:srgbClr val="FF0000"/>
                </a:solidFill>
              </a:rPr>
              <a:t>Capstone Project : Customer  </a:t>
            </a:r>
            <a:r>
              <a:rPr lang="en-US" b="1" dirty="0" err="1">
                <a:solidFill>
                  <a:srgbClr val="FF0000"/>
                </a:solidFill>
              </a:rPr>
              <a:t>Behaviour</a:t>
            </a:r>
            <a:r>
              <a:rPr lang="en-US" b="1" dirty="0">
                <a:solidFill>
                  <a:srgbClr val="FF0000"/>
                </a:solidFill>
              </a:rPr>
              <a:t>  and Retention Analytics</a:t>
            </a:r>
          </a:p>
        </p:txBody>
      </p:sp>
      <p:sp>
        <p:nvSpPr>
          <p:cNvPr id="3" name="Subtitle 2">
            <a:extLst>
              <a:ext uri="{FF2B5EF4-FFF2-40B4-BE49-F238E27FC236}">
                <a16:creationId xmlns:a16="http://schemas.microsoft.com/office/drawing/2014/main" id="{83AC8277-8F13-B069-54F1-DBB19040D9B4}"/>
              </a:ext>
            </a:extLst>
          </p:cNvPr>
          <p:cNvSpPr>
            <a:spLocks noGrp="1"/>
          </p:cNvSpPr>
          <p:nvPr>
            <p:ph type="subTitle" idx="1"/>
          </p:nvPr>
        </p:nvSpPr>
        <p:spPr/>
        <p:txBody>
          <a:bodyPr>
            <a:normAutofit lnSpcReduction="10000"/>
          </a:bodyPr>
          <a:lstStyle/>
          <a:p>
            <a:pPr algn="l"/>
            <a:r>
              <a:rPr lang="en-US" dirty="0"/>
              <a:t>Capstone Project Summary</a:t>
            </a:r>
          </a:p>
          <a:p>
            <a:pPr algn="l"/>
            <a:endParaRPr lang="en-US" dirty="0"/>
          </a:p>
          <a:p>
            <a:r>
              <a:rPr lang="en-US" dirty="0"/>
              <a:t>Authored by Eliud Mule</a:t>
            </a:r>
          </a:p>
        </p:txBody>
      </p:sp>
    </p:spTree>
    <p:extLst>
      <p:ext uri="{BB962C8B-B14F-4D97-AF65-F5344CB8AC3E}">
        <p14:creationId xmlns:p14="http://schemas.microsoft.com/office/powerpoint/2010/main" val="12348838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4B0B0-493C-8756-910E-BC323A891E37}"/>
              </a:ext>
            </a:extLst>
          </p:cNvPr>
          <p:cNvSpPr>
            <a:spLocks noGrp="1"/>
          </p:cNvSpPr>
          <p:nvPr>
            <p:ph type="title"/>
          </p:nvPr>
        </p:nvSpPr>
        <p:spPr>
          <a:xfrm>
            <a:off x="838200" y="500062"/>
            <a:ext cx="10515600" cy="1325563"/>
          </a:xfrm>
        </p:spPr>
        <p:txBody>
          <a:bodyPr/>
          <a:lstStyle/>
          <a:p>
            <a:r>
              <a:rPr lang="en-US" dirty="0"/>
              <a:t>Project Overview</a:t>
            </a:r>
          </a:p>
        </p:txBody>
      </p:sp>
      <p:sp>
        <p:nvSpPr>
          <p:cNvPr id="3" name="Content Placeholder 2">
            <a:extLst>
              <a:ext uri="{FF2B5EF4-FFF2-40B4-BE49-F238E27FC236}">
                <a16:creationId xmlns:a16="http://schemas.microsoft.com/office/drawing/2014/main" id="{6F868FC3-B629-3153-059D-32BB03E5C8BE}"/>
              </a:ext>
            </a:extLst>
          </p:cNvPr>
          <p:cNvSpPr>
            <a:spLocks noGrp="1"/>
          </p:cNvSpPr>
          <p:nvPr>
            <p:ph idx="1"/>
          </p:nvPr>
        </p:nvSpPr>
        <p:spPr/>
        <p:txBody>
          <a:bodyPr>
            <a:normAutofit/>
          </a:bodyPr>
          <a:lstStyle/>
          <a:p>
            <a:r>
              <a:rPr lang="en-US" dirty="0"/>
              <a:t>Purpose of the Project</a:t>
            </a:r>
          </a:p>
          <a:p>
            <a:r>
              <a:rPr lang="en-US" sz="2000" dirty="0"/>
              <a:t>Analyze 10,000 customers to understand the spending </a:t>
            </a:r>
            <a:r>
              <a:rPr lang="en-US" sz="2000" dirty="0" err="1"/>
              <a:t>behaviour</a:t>
            </a:r>
            <a:r>
              <a:rPr lang="en-US" sz="2000" dirty="0"/>
              <a:t>.</a:t>
            </a:r>
          </a:p>
          <a:p>
            <a:r>
              <a:rPr lang="en-US" sz="2000" dirty="0"/>
              <a:t>Identify drivers of churn.</a:t>
            </a:r>
          </a:p>
          <a:p>
            <a:r>
              <a:rPr lang="en-US" sz="2000" dirty="0"/>
              <a:t>Build data-driven retention strategies.</a:t>
            </a:r>
          </a:p>
          <a:p>
            <a:endParaRPr lang="en-US" sz="2000" dirty="0"/>
          </a:p>
        </p:txBody>
      </p:sp>
    </p:spTree>
    <p:extLst>
      <p:ext uri="{BB962C8B-B14F-4D97-AF65-F5344CB8AC3E}">
        <p14:creationId xmlns:p14="http://schemas.microsoft.com/office/powerpoint/2010/main" val="21800950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4E4E0-E0E0-BE71-77C8-ECEAE45871BF}"/>
              </a:ext>
            </a:extLst>
          </p:cNvPr>
          <p:cNvSpPr>
            <a:spLocks noGrp="1"/>
          </p:cNvSpPr>
          <p:nvPr>
            <p:ph type="title"/>
          </p:nvPr>
        </p:nvSpPr>
        <p:spPr/>
        <p:txBody>
          <a:bodyPr/>
          <a:lstStyle/>
          <a:p>
            <a:r>
              <a:rPr lang="en-US" dirty="0"/>
              <a:t>Phase 1 : Data Understanding and Cleaning</a:t>
            </a:r>
          </a:p>
        </p:txBody>
      </p:sp>
      <p:sp>
        <p:nvSpPr>
          <p:cNvPr id="3" name="Content Placeholder 2">
            <a:extLst>
              <a:ext uri="{FF2B5EF4-FFF2-40B4-BE49-F238E27FC236}">
                <a16:creationId xmlns:a16="http://schemas.microsoft.com/office/drawing/2014/main" id="{C94A3012-5548-190D-E3BB-5CE3DE6133E4}"/>
              </a:ext>
            </a:extLst>
          </p:cNvPr>
          <p:cNvSpPr>
            <a:spLocks noGrp="1"/>
          </p:cNvSpPr>
          <p:nvPr>
            <p:ph idx="1"/>
          </p:nvPr>
        </p:nvSpPr>
        <p:spPr/>
        <p:txBody>
          <a:bodyPr>
            <a:normAutofit/>
          </a:bodyPr>
          <a:lstStyle/>
          <a:p>
            <a:r>
              <a:rPr lang="en-US" dirty="0"/>
              <a:t>Data </a:t>
            </a:r>
            <a:r>
              <a:rPr lang="en-US" sz="2400" dirty="0"/>
              <a:t>Audit</a:t>
            </a:r>
            <a:r>
              <a:rPr lang="en-US" dirty="0"/>
              <a:t> and Cleaning.</a:t>
            </a:r>
          </a:p>
          <a:p>
            <a:r>
              <a:rPr lang="en-US" sz="2400" dirty="0"/>
              <a:t>Explore dataset(structure,  summary, head)</a:t>
            </a:r>
          </a:p>
          <a:p>
            <a:r>
              <a:rPr lang="en-US" sz="2400" dirty="0"/>
              <a:t> The dataset contains 10000 observations and 15 variables, </a:t>
            </a:r>
            <a:r>
              <a:rPr lang="en-US" sz="2400" dirty="0" err="1"/>
              <a:t>i.e</a:t>
            </a:r>
            <a:r>
              <a:rPr lang="en-US" sz="2400" dirty="0"/>
              <a:t> eight numerical variables and nine categorical variables. </a:t>
            </a:r>
          </a:p>
          <a:p>
            <a:r>
              <a:rPr lang="en-US" sz="2400" dirty="0"/>
              <a:t>Identify missing </a:t>
            </a:r>
            <a:r>
              <a:rPr lang="en-US" sz="2400" dirty="0" err="1"/>
              <a:t>values,duplicates,inconsistencies</a:t>
            </a:r>
            <a:r>
              <a:rPr lang="en-US" sz="2400" dirty="0"/>
              <a:t>.</a:t>
            </a:r>
          </a:p>
          <a:p>
            <a:r>
              <a:rPr lang="en-US" sz="2400" dirty="0"/>
              <a:t>     The dataset had </a:t>
            </a:r>
            <a:r>
              <a:rPr lang="en-US" sz="2400" dirty="0" err="1"/>
              <a:t>nomissing</a:t>
            </a:r>
            <a:r>
              <a:rPr lang="en-US" sz="2400" dirty="0"/>
              <a:t> </a:t>
            </a:r>
            <a:r>
              <a:rPr lang="en-US" sz="2400" dirty="0" err="1"/>
              <a:t>values,duplicates</a:t>
            </a:r>
            <a:r>
              <a:rPr lang="en-US" sz="2400" dirty="0"/>
              <a:t> </a:t>
            </a:r>
            <a:r>
              <a:rPr lang="en-US" sz="2400" dirty="0" err="1"/>
              <a:t>ordata</a:t>
            </a:r>
            <a:r>
              <a:rPr lang="en-US" sz="2400" dirty="0"/>
              <a:t> inconsistencies.</a:t>
            </a:r>
          </a:p>
          <a:p>
            <a:endParaRPr lang="en-US" sz="2400" dirty="0"/>
          </a:p>
          <a:p>
            <a:endParaRPr lang="en-US" sz="2400" dirty="0"/>
          </a:p>
        </p:txBody>
      </p:sp>
    </p:spTree>
    <p:extLst>
      <p:ext uri="{BB962C8B-B14F-4D97-AF65-F5344CB8AC3E}">
        <p14:creationId xmlns:p14="http://schemas.microsoft.com/office/powerpoint/2010/main" val="30984631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4F40E-789F-4A47-0115-353343A53513}"/>
              </a:ext>
            </a:extLst>
          </p:cNvPr>
          <p:cNvSpPr>
            <a:spLocks noGrp="1"/>
          </p:cNvSpPr>
          <p:nvPr>
            <p:ph type="title"/>
          </p:nvPr>
        </p:nvSpPr>
        <p:spPr/>
        <p:txBody>
          <a:bodyPr/>
          <a:lstStyle/>
          <a:p>
            <a:r>
              <a:rPr lang="en-US" dirty="0"/>
              <a:t>Outlier Detection and Treatment</a:t>
            </a:r>
          </a:p>
        </p:txBody>
      </p:sp>
      <p:sp>
        <p:nvSpPr>
          <p:cNvPr id="3" name="Content Placeholder 2">
            <a:extLst>
              <a:ext uri="{FF2B5EF4-FFF2-40B4-BE49-F238E27FC236}">
                <a16:creationId xmlns:a16="http://schemas.microsoft.com/office/drawing/2014/main" id="{5354BCE5-30C0-A0AD-9C6A-BAB565D4349C}"/>
              </a:ext>
            </a:extLst>
          </p:cNvPr>
          <p:cNvSpPr>
            <a:spLocks noGrp="1"/>
          </p:cNvSpPr>
          <p:nvPr>
            <p:ph idx="1"/>
          </p:nvPr>
        </p:nvSpPr>
        <p:spPr>
          <a:xfrm>
            <a:off x="739877" y="1869870"/>
            <a:ext cx="10515600" cy="4351338"/>
          </a:xfrm>
        </p:spPr>
        <p:txBody>
          <a:bodyPr/>
          <a:lstStyle/>
          <a:p>
            <a:r>
              <a:rPr lang="en-US" dirty="0"/>
              <a:t>Detected outliers using a Boxplot using two variables(Annual spending and credit score)</a:t>
            </a:r>
          </a:p>
          <a:p>
            <a:r>
              <a:rPr lang="en-US" dirty="0"/>
              <a:t>      Both boxplots had outliers.</a:t>
            </a:r>
          </a:p>
          <a:p>
            <a:r>
              <a:rPr lang="en-US" dirty="0"/>
              <a:t>Used  IQR method to remove the outliers then visualized the new boxplots.</a:t>
            </a:r>
          </a:p>
          <a:p>
            <a:endParaRPr lang="en-US" dirty="0"/>
          </a:p>
        </p:txBody>
      </p:sp>
      <p:pic>
        <p:nvPicPr>
          <p:cNvPr id="7" name="Picture 6">
            <a:extLst>
              <a:ext uri="{FF2B5EF4-FFF2-40B4-BE49-F238E27FC236}">
                <a16:creationId xmlns:a16="http://schemas.microsoft.com/office/drawing/2014/main" id="{3E926CF0-07FE-90C7-1669-0AF7AA91E1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6522" y="4483510"/>
            <a:ext cx="4847571" cy="2374490"/>
          </a:xfrm>
          <a:prstGeom prst="rect">
            <a:avLst/>
          </a:prstGeom>
        </p:spPr>
      </p:pic>
      <p:pic>
        <p:nvPicPr>
          <p:cNvPr id="9" name="Picture 8">
            <a:extLst>
              <a:ext uri="{FF2B5EF4-FFF2-40B4-BE49-F238E27FC236}">
                <a16:creationId xmlns:a16="http://schemas.microsoft.com/office/drawing/2014/main" id="{F7FE44EF-789A-4EF0-92EC-E824E74EF8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28423" y="3794068"/>
            <a:ext cx="5925377" cy="3753374"/>
          </a:xfrm>
          <a:prstGeom prst="rect">
            <a:avLst/>
          </a:prstGeom>
        </p:spPr>
      </p:pic>
    </p:spTree>
    <p:extLst>
      <p:ext uri="{BB962C8B-B14F-4D97-AF65-F5344CB8AC3E}">
        <p14:creationId xmlns:p14="http://schemas.microsoft.com/office/powerpoint/2010/main" val="4855391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FC08A94-261F-CC21-D8F4-C7E8151C3DFA}"/>
              </a:ext>
            </a:extLst>
          </p:cNvPr>
          <p:cNvSpPr>
            <a:spLocks noGrp="1"/>
          </p:cNvSpPr>
          <p:nvPr>
            <p:ph type="title"/>
          </p:nvPr>
        </p:nvSpPr>
        <p:spPr/>
        <p:txBody>
          <a:bodyPr/>
          <a:lstStyle/>
          <a:p>
            <a:r>
              <a:rPr lang="en-US" dirty="0"/>
              <a:t>Phase 2: Feature Engineering &amp; Preprocessing.</a:t>
            </a:r>
          </a:p>
        </p:txBody>
      </p:sp>
      <p:sp>
        <p:nvSpPr>
          <p:cNvPr id="7" name="Content Placeholder 6">
            <a:extLst>
              <a:ext uri="{FF2B5EF4-FFF2-40B4-BE49-F238E27FC236}">
                <a16:creationId xmlns:a16="http://schemas.microsoft.com/office/drawing/2014/main" id="{AB2CBE5D-EE75-4545-1D32-E578E01FA789}"/>
              </a:ext>
            </a:extLst>
          </p:cNvPr>
          <p:cNvSpPr>
            <a:spLocks noGrp="1"/>
          </p:cNvSpPr>
          <p:nvPr>
            <p:ph idx="1"/>
          </p:nvPr>
        </p:nvSpPr>
        <p:spPr/>
        <p:txBody>
          <a:bodyPr/>
          <a:lstStyle/>
          <a:p>
            <a:r>
              <a:rPr lang="en-US" dirty="0"/>
              <a:t>Created new features using mutate function:</a:t>
            </a:r>
          </a:p>
          <a:p>
            <a:r>
              <a:rPr lang="en-US" dirty="0"/>
              <a:t>  1.Spending to Income ratio(Annual spending/Annual income)</a:t>
            </a:r>
          </a:p>
          <a:p>
            <a:r>
              <a:rPr lang="en-US" dirty="0"/>
              <a:t>   2.Customer tenure(Loyalty years *12)</a:t>
            </a:r>
          </a:p>
          <a:p>
            <a:r>
              <a:rPr lang="en-US" dirty="0"/>
              <a:t>   3.Financial_stability Score(Credit score/Annual income)</a:t>
            </a:r>
          </a:p>
          <a:p>
            <a:endParaRPr lang="en-US" dirty="0"/>
          </a:p>
          <a:p>
            <a:r>
              <a:rPr lang="en-US" dirty="0"/>
              <a:t>Encoded categorical variables (</a:t>
            </a:r>
            <a:r>
              <a:rPr lang="en-US" dirty="0" err="1"/>
              <a:t>education,gender,employment</a:t>
            </a:r>
            <a:r>
              <a:rPr lang="en-US" dirty="0"/>
              <a:t> status, marital </a:t>
            </a:r>
            <a:r>
              <a:rPr lang="en-US" dirty="0" err="1"/>
              <a:t>status,region,payment</a:t>
            </a:r>
            <a:r>
              <a:rPr lang="en-US" dirty="0"/>
              <a:t> </a:t>
            </a:r>
            <a:r>
              <a:rPr lang="en-US" dirty="0" err="1"/>
              <a:t>type,online</a:t>
            </a:r>
            <a:r>
              <a:rPr lang="en-US" dirty="0"/>
              <a:t> shopper and churn) using One hot encoding.</a:t>
            </a:r>
          </a:p>
        </p:txBody>
      </p:sp>
    </p:spTree>
    <p:extLst>
      <p:ext uri="{BB962C8B-B14F-4D97-AF65-F5344CB8AC3E}">
        <p14:creationId xmlns:p14="http://schemas.microsoft.com/office/powerpoint/2010/main" val="40246425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57E81-B72C-11A3-3CA9-D1092D021A60}"/>
              </a:ext>
            </a:extLst>
          </p:cNvPr>
          <p:cNvSpPr>
            <a:spLocks noGrp="1"/>
          </p:cNvSpPr>
          <p:nvPr>
            <p:ph type="title"/>
          </p:nvPr>
        </p:nvSpPr>
        <p:spPr/>
        <p:txBody>
          <a:bodyPr/>
          <a:lstStyle/>
          <a:p>
            <a:r>
              <a:rPr lang="en-US" dirty="0"/>
              <a:t>Phase 3 : Exploratory Data Analysis(EDA)</a:t>
            </a:r>
          </a:p>
        </p:txBody>
      </p:sp>
      <p:sp>
        <p:nvSpPr>
          <p:cNvPr id="3" name="Content Placeholder 2">
            <a:extLst>
              <a:ext uri="{FF2B5EF4-FFF2-40B4-BE49-F238E27FC236}">
                <a16:creationId xmlns:a16="http://schemas.microsoft.com/office/drawing/2014/main" id="{B9750E4F-3CC9-41D9-4B4A-FAB05D35DB14}"/>
              </a:ext>
            </a:extLst>
          </p:cNvPr>
          <p:cNvSpPr>
            <a:spLocks noGrp="1"/>
          </p:cNvSpPr>
          <p:nvPr>
            <p:ph idx="1"/>
          </p:nvPr>
        </p:nvSpPr>
        <p:spPr>
          <a:xfrm>
            <a:off x="543232" y="1383172"/>
            <a:ext cx="10515600" cy="5356841"/>
          </a:xfrm>
        </p:spPr>
        <p:txBody>
          <a:bodyPr/>
          <a:lstStyle/>
          <a:p>
            <a:r>
              <a:rPr lang="en-US" dirty="0"/>
              <a:t>Univariate Analysis:</a:t>
            </a:r>
          </a:p>
          <a:p>
            <a:r>
              <a:rPr lang="en-US" dirty="0"/>
              <a:t>Histogram for Annual Spending- The histogram of annual spending showed a right-skewed distribution, indicating that most customers have lower annual spending, while a smaller number of customers have higher annual spending.</a:t>
            </a:r>
          </a:p>
          <a:p>
            <a:r>
              <a:rPr lang="en-US" dirty="0"/>
              <a:t>Density Plot of Credit Score:  The density plot of credit score shows a unimodal distribution, with most customers having credit scores around the mean, and fewer customers having very low or very high credit scores.</a:t>
            </a:r>
          </a:p>
          <a:p>
            <a:r>
              <a:rPr lang="en-US" dirty="0"/>
              <a:t>Frequency Table for Annual </a:t>
            </a:r>
            <a:r>
              <a:rPr lang="en-US" dirty="0" err="1"/>
              <a:t>Income:Illustrated</a:t>
            </a:r>
            <a:r>
              <a:rPr lang="en-US" dirty="0"/>
              <a:t> that the majority of customers fall within the lower income brackets, with a smaller proportion of customers in the higher income brackets</a:t>
            </a:r>
          </a:p>
        </p:txBody>
      </p:sp>
    </p:spTree>
    <p:extLst>
      <p:ext uri="{BB962C8B-B14F-4D97-AF65-F5344CB8AC3E}">
        <p14:creationId xmlns:p14="http://schemas.microsoft.com/office/powerpoint/2010/main" val="6897444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DFA19-E068-1911-DC7A-AAFB2C96B5C0}"/>
              </a:ext>
            </a:extLst>
          </p:cNvPr>
          <p:cNvSpPr>
            <a:spLocks noGrp="1"/>
          </p:cNvSpPr>
          <p:nvPr>
            <p:ph type="title"/>
          </p:nvPr>
        </p:nvSpPr>
        <p:spPr/>
        <p:txBody>
          <a:bodyPr/>
          <a:lstStyle/>
          <a:p>
            <a:r>
              <a:rPr lang="en-US" dirty="0"/>
              <a:t>Multi-Variate Analysis</a:t>
            </a:r>
          </a:p>
        </p:txBody>
      </p:sp>
      <p:sp>
        <p:nvSpPr>
          <p:cNvPr id="3" name="Content Placeholder 2">
            <a:extLst>
              <a:ext uri="{FF2B5EF4-FFF2-40B4-BE49-F238E27FC236}">
                <a16:creationId xmlns:a16="http://schemas.microsoft.com/office/drawing/2014/main" id="{5C5EA384-0236-7795-3526-9F5CA42AF193}"/>
              </a:ext>
            </a:extLst>
          </p:cNvPr>
          <p:cNvSpPr>
            <a:spLocks noGrp="1"/>
          </p:cNvSpPr>
          <p:nvPr>
            <p:ph idx="1"/>
          </p:nvPr>
        </p:nvSpPr>
        <p:spPr>
          <a:xfrm>
            <a:off x="838200" y="1825624"/>
            <a:ext cx="10515600" cy="5032375"/>
          </a:xfrm>
        </p:spPr>
        <p:txBody>
          <a:bodyPr>
            <a:normAutofit fontScale="47500" lnSpcReduction="20000"/>
          </a:bodyPr>
          <a:lstStyle/>
          <a:p>
            <a:r>
              <a:rPr lang="en-US" sz="3400" dirty="0"/>
              <a:t>Boxplot of Spending by Region:  The median annual spending and interquartile ranges appears to be relatively similar across all regions.</a:t>
            </a:r>
          </a:p>
          <a:p>
            <a:endParaRPr lang="en-US" sz="3400" dirty="0"/>
          </a:p>
          <a:p>
            <a:r>
              <a:rPr lang="en-US" sz="3400" dirty="0"/>
              <a:t>Boxplot of Annual Spending by Employment Status: </a:t>
            </a:r>
            <a:r>
              <a:rPr lang="en-US" sz="3400" dirty="0" err="1"/>
              <a:t>Self_Employed</a:t>
            </a:r>
            <a:r>
              <a:rPr lang="en-US" sz="3400" dirty="0"/>
              <a:t> customers tend to have higher median annual spending compared to </a:t>
            </a:r>
            <a:r>
              <a:rPr lang="en-US" sz="3400" dirty="0" err="1"/>
              <a:t>employed,student,unemployed</a:t>
            </a:r>
            <a:r>
              <a:rPr lang="en-US" sz="3400" dirty="0"/>
              <a:t> and retired customers. Additionally, the interquartile range for employed customers is wider, indicating greater variability in annual spending among this group. Unemployed and student customers have lower median annual spending and narrower interquartile ranges, suggesting that they generally spend less annually compared to employed customers.</a:t>
            </a:r>
          </a:p>
          <a:p>
            <a:endParaRPr lang="en-US" sz="3400" dirty="0"/>
          </a:p>
          <a:p>
            <a:r>
              <a:rPr lang="en-US" sz="3400" dirty="0"/>
              <a:t>Scatterplot of income vs credit score by </a:t>
            </a:r>
            <a:r>
              <a:rPr lang="en-US" sz="3400" dirty="0" err="1"/>
              <a:t>churn:There</a:t>
            </a:r>
            <a:r>
              <a:rPr lang="en-US" sz="3400" dirty="0"/>
              <a:t> was a positive correlation between annual income and credit score for both churned and non-churned customers. However, non-churned customers generally have higher credit scores compared to churned customers across all income levels. Additionally, there is an overlap in the scatterplot, indicating that there are some churned customers with high credit scores and some non-churned customers with low credit scores, suggesting that income and credit score alone are not strong predictors of customer churn, and other factors may also play a role in customer ret</a:t>
            </a:r>
            <a:r>
              <a:rPr lang="en-US" dirty="0"/>
              <a:t>ention. </a:t>
            </a:r>
          </a:p>
          <a:p>
            <a:endParaRPr lang="en-US" dirty="0"/>
          </a:p>
          <a:p>
            <a:r>
              <a:rPr lang="en-US" sz="3600" dirty="0"/>
              <a:t>Correlation Heatmap : Annual spending has a strong positive correlation with annual income (r = 0.83), indicating that customers with higher incomes tend to spend more annually. Additionally, there is a moderate positive correlation between credit score and annual spending (r = 0.63), suggesting that customers with higher spendings also tend to have better credit scores.</a:t>
            </a:r>
          </a:p>
        </p:txBody>
      </p:sp>
    </p:spTree>
    <p:extLst>
      <p:ext uri="{BB962C8B-B14F-4D97-AF65-F5344CB8AC3E}">
        <p14:creationId xmlns:p14="http://schemas.microsoft.com/office/powerpoint/2010/main" val="36444887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29FC3-1D2E-5FE0-43E8-BCFDB58E8ECD}"/>
              </a:ext>
            </a:extLst>
          </p:cNvPr>
          <p:cNvSpPr>
            <a:spLocks noGrp="1"/>
          </p:cNvSpPr>
          <p:nvPr>
            <p:ph type="title"/>
          </p:nvPr>
        </p:nvSpPr>
        <p:spPr/>
        <p:txBody>
          <a:bodyPr/>
          <a:lstStyle/>
          <a:p>
            <a:r>
              <a:rPr lang="en-US" dirty="0"/>
              <a:t>Phase 4 :  Descriptive Statistics &amp; Inference</a:t>
            </a:r>
          </a:p>
        </p:txBody>
      </p:sp>
      <p:sp>
        <p:nvSpPr>
          <p:cNvPr id="3" name="Content Placeholder 2">
            <a:extLst>
              <a:ext uri="{FF2B5EF4-FFF2-40B4-BE49-F238E27FC236}">
                <a16:creationId xmlns:a16="http://schemas.microsoft.com/office/drawing/2014/main" id="{0C82FDED-1058-3D60-E958-387175077C1F}"/>
              </a:ext>
            </a:extLst>
          </p:cNvPr>
          <p:cNvSpPr>
            <a:spLocks noGrp="1"/>
          </p:cNvSpPr>
          <p:nvPr>
            <p:ph idx="1"/>
          </p:nvPr>
        </p:nvSpPr>
        <p:spPr>
          <a:xfrm>
            <a:off x="838200" y="1825624"/>
            <a:ext cx="10515600" cy="5032375"/>
          </a:xfrm>
        </p:spPr>
        <p:txBody>
          <a:bodyPr>
            <a:normAutofit fontScale="85000" lnSpcReduction="20000"/>
          </a:bodyPr>
          <a:lstStyle/>
          <a:p>
            <a:r>
              <a:rPr lang="en-US" dirty="0"/>
              <a:t>1.Summary Statistics</a:t>
            </a:r>
          </a:p>
          <a:p>
            <a:r>
              <a:rPr lang="en-US" dirty="0"/>
              <a:t> Computed summary statistics( Mean, Median, SD, IQR) for Annual Spending across various groups : </a:t>
            </a:r>
          </a:p>
          <a:p>
            <a:r>
              <a:rPr lang="en-US" sz="2000" dirty="0" err="1"/>
              <a:t>i</a:t>
            </a:r>
            <a:r>
              <a:rPr lang="en-US" sz="2000" dirty="0"/>
              <a:t>. Summary statistics for Annual spending by region-The summary statistics for annual spending by region indicate that  suburban customers have the highest mean and median spending, followed by urban and rural customers. The standard deviation of annual spending is however, highest for rural customers, suggesting greater variability in spending among this group. The interquartile range (IQR) is also widest for rural customers, indicating a larger spread of annual spending values compared to suburban and urban customers</a:t>
            </a:r>
            <a:r>
              <a:rPr lang="en-US" dirty="0"/>
              <a:t>.</a:t>
            </a:r>
          </a:p>
          <a:p>
            <a:r>
              <a:rPr lang="en-US" sz="2000" dirty="0" err="1"/>
              <a:t>ii.Summary</a:t>
            </a:r>
            <a:r>
              <a:rPr lang="en-US" sz="2000" dirty="0"/>
              <a:t> Statistics for Annual Spending by Employment Status-The summary statistics for annual spending by employment status reveal that self-employed customers have the highest mean and median annual spending  followed by employed customers . Unemployed and student customers have significantly lower mean annual spending. The standard deviation and interquartile range indicate that there is greater variability in annual spending among  self-employed customers compared to other employment statuses.</a:t>
            </a:r>
          </a:p>
          <a:p>
            <a:r>
              <a:rPr lang="en-US" sz="2000" dirty="0" err="1"/>
              <a:t>iii.Summary</a:t>
            </a:r>
            <a:r>
              <a:rPr lang="en-US" sz="2000" dirty="0"/>
              <a:t> Statistics for Annual Spending by Education level-The summary statistics for annual spending across different education levels indicate that customers with a PhD degree tend to have the highest mean and median annual spending, followed by those with a master's </a:t>
            </a:r>
            <a:r>
              <a:rPr lang="en-US" sz="2000" dirty="0" err="1"/>
              <a:t>degree,bachelor's</a:t>
            </a:r>
            <a:r>
              <a:rPr lang="en-US" sz="2000" dirty="0"/>
              <a:t> </a:t>
            </a:r>
            <a:r>
              <a:rPr lang="en-US" sz="2000" dirty="0" err="1"/>
              <a:t>degree,diploma</a:t>
            </a:r>
            <a:r>
              <a:rPr lang="en-US" sz="2000" dirty="0"/>
              <a:t> and lastly high school education. Additionally, the standard deviation and interquartile range for annual spending follows the same trend, suggesting greater variability in spending among </a:t>
            </a:r>
            <a:r>
              <a:rPr lang="en-US" sz="2000" dirty="0" err="1"/>
              <a:t>Phd's</a:t>
            </a:r>
            <a:r>
              <a:rPr lang="en-US" sz="2000" dirty="0"/>
              <a:t> group compared to other education levels</a:t>
            </a:r>
          </a:p>
        </p:txBody>
      </p:sp>
    </p:spTree>
    <p:extLst>
      <p:ext uri="{BB962C8B-B14F-4D97-AF65-F5344CB8AC3E}">
        <p14:creationId xmlns:p14="http://schemas.microsoft.com/office/powerpoint/2010/main" val="36832829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ED93-88DE-F5B8-6E8E-975774DC04A9}"/>
              </a:ext>
            </a:extLst>
          </p:cNvPr>
          <p:cNvSpPr>
            <a:spLocks noGrp="1"/>
          </p:cNvSpPr>
          <p:nvPr>
            <p:ph type="title"/>
          </p:nvPr>
        </p:nvSpPr>
        <p:spPr/>
        <p:txBody>
          <a:bodyPr/>
          <a:lstStyle/>
          <a:p>
            <a:r>
              <a:rPr lang="en-US" dirty="0"/>
              <a:t>Confidence Intervals</a:t>
            </a:r>
          </a:p>
        </p:txBody>
      </p:sp>
      <p:sp>
        <p:nvSpPr>
          <p:cNvPr id="3" name="Content Placeholder 2">
            <a:extLst>
              <a:ext uri="{FF2B5EF4-FFF2-40B4-BE49-F238E27FC236}">
                <a16:creationId xmlns:a16="http://schemas.microsoft.com/office/drawing/2014/main" id="{407D3A6D-E599-391D-8109-6177D1B1506D}"/>
              </a:ext>
            </a:extLst>
          </p:cNvPr>
          <p:cNvSpPr>
            <a:spLocks noGrp="1"/>
          </p:cNvSpPr>
          <p:nvPr>
            <p:ph idx="1"/>
          </p:nvPr>
        </p:nvSpPr>
        <p:spPr/>
        <p:txBody>
          <a:bodyPr/>
          <a:lstStyle/>
          <a:p>
            <a:r>
              <a:rPr lang="en-US" dirty="0"/>
              <a:t>Constructed 95% Confidence intervals</a:t>
            </a:r>
          </a:p>
          <a:p>
            <a:r>
              <a:rPr lang="en-US" dirty="0"/>
              <a:t>   </a:t>
            </a:r>
            <a:r>
              <a:rPr lang="en-US" dirty="0" err="1"/>
              <a:t>Interpretation:The</a:t>
            </a:r>
            <a:r>
              <a:rPr lang="en-US" dirty="0"/>
              <a:t> mean annual spending was estimated to be approximately 14880.91 with a 95% confidence interval ranging from 14703.63 to 15058.19. The interval does not include </a:t>
            </a:r>
            <a:r>
              <a:rPr lang="en-US" dirty="0" err="1"/>
              <a:t>zero,indicating</a:t>
            </a:r>
            <a:r>
              <a:rPr lang="en-US" dirty="0"/>
              <a:t> statistical significance at the 5% level. In addition, the confidence interval was relatively narrow, suggesting a precise estimate of the mean annual spending for the customer base.</a:t>
            </a:r>
          </a:p>
        </p:txBody>
      </p:sp>
    </p:spTree>
    <p:extLst>
      <p:ext uri="{BB962C8B-B14F-4D97-AF65-F5344CB8AC3E}">
        <p14:creationId xmlns:p14="http://schemas.microsoft.com/office/powerpoint/2010/main" val="11412349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7812B-D69C-94B9-43A3-4238CDBB3CAB}"/>
              </a:ext>
            </a:extLst>
          </p:cNvPr>
          <p:cNvSpPr>
            <a:spLocks noGrp="1"/>
          </p:cNvSpPr>
          <p:nvPr>
            <p:ph type="title"/>
          </p:nvPr>
        </p:nvSpPr>
        <p:spPr/>
        <p:txBody>
          <a:bodyPr/>
          <a:lstStyle/>
          <a:p>
            <a:r>
              <a:rPr lang="en-US" dirty="0"/>
              <a:t>Phase 5 : Hypothesis Testing</a:t>
            </a:r>
            <a:br>
              <a:rPr lang="en-US" dirty="0"/>
            </a:br>
            <a:r>
              <a:rPr lang="en-US" dirty="0"/>
              <a:t>Part A: Parametric Tests</a:t>
            </a:r>
          </a:p>
        </p:txBody>
      </p:sp>
      <p:sp>
        <p:nvSpPr>
          <p:cNvPr id="3" name="Content Placeholder 2">
            <a:extLst>
              <a:ext uri="{FF2B5EF4-FFF2-40B4-BE49-F238E27FC236}">
                <a16:creationId xmlns:a16="http://schemas.microsoft.com/office/drawing/2014/main" id="{B0C0996D-019B-CF7A-88A3-A395E29B7BA2}"/>
              </a:ext>
            </a:extLst>
          </p:cNvPr>
          <p:cNvSpPr>
            <a:spLocks noGrp="1"/>
          </p:cNvSpPr>
          <p:nvPr>
            <p:ph idx="1"/>
          </p:nvPr>
        </p:nvSpPr>
        <p:spPr/>
        <p:txBody>
          <a:bodyPr>
            <a:normAutofit fontScale="92500" lnSpcReduction="20000"/>
          </a:bodyPr>
          <a:lstStyle/>
          <a:p>
            <a:r>
              <a:rPr lang="en-US" dirty="0"/>
              <a:t>1.Two sample t-test for Annual spending by churn :  there was a statistically significant difference in mean annual spending between churned and non-churned customers (p-value = 0.00001196). The mean annual spending for non-churned customers was higher than that of churned customers, suggesting that customers who do not churn tend to spend more annually compared to those who do churn.</a:t>
            </a:r>
          </a:p>
          <a:p>
            <a:r>
              <a:rPr lang="en-US" dirty="0"/>
              <a:t>2.Anova with Post-hoc Analysis(Annual Spending ~Region)</a:t>
            </a:r>
          </a:p>
          <a:p>
            <a:r>
              <a:rPr lang="en-US" dirty="0"/>
              <a:t>Anova </a:t>
            </a:r>
            <a:r>
              <a:rPr lang="en-US" dirty="0" err="1"/>
              <a:t>results:Indicated</a:t>
            </a:r>
            <a:r>
              <a:rPr lang="en-US" dirty="0"/>
              <a:t> a small significant difference in mean annual spending across different regions.</a:t>
            </a:r>
          </a:p>
          <a:p>
            <a:r>
              <a:rPr lang="en-US" dirty="0"/>
              <a:t>Post-hoc </a:t>
            </a:r>
            <a:r>
              <a:rPr lang="en-US" dirty="0" err="1"/>
              <a:t>Analsis</a:t>
            </a:r>
            <a:r>
              <a:rPr lang="en-US" dirty="0"/>
              <a:t> :there was no statistically significant difference in mean annual spending between any pair of regions, as all p-values were greater than 0.05. This suggests that while the ANOVA indicated a significant difference across regions, the post-hoc analysis does not identify any specific pairs of regions that differ significantly from each other in terms of annual spending. Therefore, we can conclude that regional location does not have a significant impact on customers' annual spending behavior in this dataset when comparing specific regions to each other. </a:t>
            </a:r>
          </a:p>
        </p:txBody>
      </p:sp>
    </p:spTree>
    <p:extLst>
      <p:ext uri="{BB962C8B-B14F-4D97-AF65-F5344CB8AC3E}">
        <p14:creationId xmlns:p14="http://schemas.microsoft.com/office/powerpoint/2010/main" val="30575166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15343-3E6D-54AB-B904-CB15D2BF8108}"/>
              </a:ext>
            </a:extLst>
          </p:cNvPr>
          <p:cNvSpPr>
            <a:spLocks noGrp="1"/>
          </p:cNvSpPr>
          <p:nvPr>
            <p:ph type="title"/>
          </p:nvPr>
        </p:nvSpPr>
        <p:spPr/>
        <p:txBody>
          <a:bodyPr/>
          <a:lstStyle/>
          <a:p>
            <a:r>
              <a:rPr lang="en-US" dirty="0"/>
              <a:t>Part B : Non-Parametric Tests</a:t>
            </a:r>
          </a:p>
        </p:txBody>
      </p:sp>
      <p:sp>
        <p:nvSpPr>
          <p:cNvPr id="3" name="Content Placeholder 2">
            <a:extLst>
              <a:ext uri="{FF2B5EF4-FFF2-40B4-BE49-F238E27FC236}">
                <a16:creationId xmlns:a16="http://schemas.microsoft.com/office/drawing/2014/main" id="{50D55619-69DF-ADB7-A5A4-A684BFAADF27}"/>
              </a:ext>
            </a:extLst>
          </p:cNvPr>
          <p:cNvSpPr>
            <a:spLocks noGrp="1"/>
          </p:cNvSpPr>
          <p:nvPr>
            <p:ph idx="1"/>
          </p:nvPr>
        </p:nvSpPr>
        <p:spPr/>
        <p:txBody>
          <a:bodyPr>
            <a:normAutofit lnSpcReduction="10000"/>
          </a:bodyPr>
          <a:lstStyle/>
          <a:p>
            <a:r>
              <a:rPr lang="en-US" dirty="0"/>
              <a:t>1.Mann-Whitney U test for Annual Spending by Churn: The results  with a p-value of 0.3673 indicate that there is no statistically significant difference in median annual spending between different marital statuses.</a:t>
            </a:r>
          </a:p>
          <a:p>
            <a:r>
              <a:rPr lang="en-US" dirty="0"/>
              <a:t>2.Kruskal-Wallis Test for Annual Spending by Region :The results with a p-value of 0.0575 indicate that there is no statistically significant difference in median annual spending across different regions at the 5% significance level.</a:t>
            </a:r>
          </a:p>
          <a:p>
            <a:r>
              <a:rPr lang="en-US" dirty="0"/>
              <a:t>3.Chi-square test</a:t>
            </a:r>
          </a:p>
          <a:p>
            <a:r>
              <a:rPr lang="en-US" dirty="0"/>
              <a:t>-Created a contingency table for churn and region then performed the test.</a:t>
            </a:r>
          </a:p>
          <a:p>
            <a:r>
              <a:rPr lang="en-US" dirty="0"/>
              <a:t>Results: The results above with a p-value of 0.5805 indicate that there is no statistically significant association between customer churn and region. This implies that regional location does not have a significant impact on customer churn behavior.</a:t>
            </a:r>
          </a:p>
        </p:txBody>
      </p:sp>
    </p:spTree>
    <p:extLst>
      <p:ext uri="{BB962C8B-B14F-4D97-AF65-F5344CB8AC3E}">
        <p14:creationId xmlns:p14="http://schemas.microsoft.com/office/powerpoint/2010/main" val="31026063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3B96E-FA8E-A070-21FB-7BF2F1CF1585}"/>
              </a:ext>
            </a:extLst>
          </p:cNvPr>
          <p:cNvSpPr>
            <a:spLocks noGrp="1"/>
          </p:cNvSpPr>
          <p:nvPr>
            <p:ph type="title"/>
          </p:nvPr>
        </p:nvSpPr>
        <p:spPr/>
        <p:txBody>
          <a:bodyPr>
            <a:normAutofit/>
          </a:bodyPr>
          <a:lstStyle/>
          <a:p>
            <a:r>
              <a:rPr lang="en-US" dirty="0"/>
              <a:t>Part 6 : Regression Modeling</a:t>
            </a:r>
            <a:br>
              <a:rPr lang="en-US" dirty="0"/>
            </a:br>
            <a:r>
              <a:rPr lang="en-US" dirty="0"/>
              <a:t>Part A : Simple Linear Regression</a:t>
            </a:r>
          </a:p>
        </p:txBody>
      </p:sp>
      <p:sp>
        <p:nvSpPr>
          <p:cNvPr id="3" name="Content Placeholder 2">
            <a:extLst>
              <a:ext uri="{FF2B5EF4-FFF2-40B4-BE49-F238E27FC236}">
                <a16:creationId xmlns:a16="http://schemas.microsoft.com/office/drawing/2014/main" id="{06CE3707-EF19-2C22-A406-8C9396B00B22}"/>
              </a:ext>
            </a:extLst>
          </p:cNvPr>
          <p:cNvSpPr>
            <a:spLocks noGrp="1"/>
          </p:cNvSpPr>
          <p:nvPr>
            <p:ph idx="1"/>
          </p:nvPr>
        </p:nvSpPr>
        <p:spPr/>
        <p:txBody>
          <a:bodyPr/>
          <a:lstStyle/>
          <a:p>
            <a:r>
              <a:rPr lang="en-US" dirty="0"/>
              <a:t> Simple linear regression for Annual spending by Annual </a:t>
            </a:r>
            <a:r>
              <a:rPr lang="en-US" dirty="0" err="1"/>
              <a:t>income:The</a:t>
            </a:r>
            <a:r>
              <a:rPr lang="en-US" dirty="0"/>
              <a:t> model was statistically significant (p-value = 2e-16), suggesting that annual income is a significant predictor of annual spending in this dataset. However, the R-squared value of 0.6827 indicates that approximately 68.27% of the variance in annual spending can be explained by annual income while the adjusted R-squared value of 0.6827 suggests that the model has a good fit to the data, accounting for the number of predictors included in the model.</a:t>
            </a:r>
          </a:p>
          <a:p>
            <a:endParaRPr lang="en-US" dirty="0"/>
          </a:p>
          <a:p>
            <a:endParaRPr lang="en-US" dirty="0"/>
          </a:p>
          <a:p>
            <a:endParaRPr lang="en-US" dirty="0"/>
          </a:p>
        </p:txBody>
      </p:sp>
    </p:spTree>
    <p:extLst>
      <p:ext uri="{BB962C8B-B14F-4D97-AF65-F5344CB8AC3E}">
        <p14:creationId xmlns:p14="http://schemas.microsoft.com/office/powerpoint/2010/main" val="10260069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3180D-AB1D-B181-38B8-A1BB03BA82C9}"/>
              </a:ext>
            </a:extLst>
          </p:cNvPr>
          <p:cNvSpPr>
            <a:spLocks noGrp="1"/>
          </p:cNvSpPr>
          <p:nvPr>
            <p:ph type="title"/>
          </p:nvPr>
        </p:nvSpPr>
        <p:spPr/>
        <p:txBody>
          <a:bodyPr/>
          <a:lstStyle/>
          <a:p>
            <a:r>
              <a:rPr lang="en-US" dirty="0"/>
              <a:t>Residual Diagnostics of The SLR Model</a:t>
            </a:r>
          </a:p>
        </p:txBody>
      </p:sp>
      <p:sp>
        <p:nvSpPr>
          <p:cNvPr id="3" name="Content Placeholder 2">
            <a:extLst>
              <a:ext uri="{FF2B5EF4-FFF2-40B4-BE49-F238E27FC236}">
                <a16:creationId xmlns:a16="http://schemas.microsoft.com/office/drawing/2014/main" id="{E661481D-DB32-CA87-2D88-FAAB238664B3}"/>
              </a:ext>
            </a:extLst>
          </p:cNvPr>
          <p:cNvSpPr>
            <a:spLocks noGrp="1"/>
          </p:cNvSpPr>
          <p:nvPr>
            <p:ph idx="1"/>
          </p:nvPr>
        </p:nvSpPr>
        <p:spPr/>
        <p:txBody>
          <a:bodyPr>
            <a:normAutofit lnSpcReduction="10000"/>
          </a:bodyPr>
          <a:lstStyle/>
          <a:p>
            <a:r>
              <a:rPr lang="en-US" dirty="0"/>
              <a:t>Generated Diagnostic plots and performed various tests.</a:t>
            </a:r>
          </a:p>
          <a:p>
            <a:r>
              <a:rPr lang="en-US" dirty="0"/>
              <a:t>1.Linearity test-The results with a p-value of &lt; 0.05 indicated  that we reject the null hypothesis, suggesting that there is non linearity in the relationship between annual income and annual spending. </a:t>
            </a:r>
          </a:p>
          <a:p>
            <a:r>
              <a:rPr lang="en-US" dirty="0"/>
              <a:t>2. Anderson-Darling test for normality of residuals-The results with a p-value of &lt; 0.0001 indicated  that we reject the null hypothesis, suggesting that the residuals from the regression model are not normally distributed. </a:t>
            </a:r>
          </a:p>
          <a:p>
            <a:r>
              <a:rPr lang="en-US" dirty="0"/>
              <a:t>3. Breusch-Pagan test for homoscedasticity-The results with a p-value of &lt; 0.05 indicated that we reject the null hypothesis, suggesting that there is heteroscedasticity in the residuals of the regression model.</a:t>
            </a:r>
          </a:p>
          <a:p>
            <a:r>
              <a:rPr lang="en-US" dirty="0"/>
              <a:t>4.Outliers and Influential points-From the plot of residuals vs leverage, there were potential outliers and influential points in the regression model. </a:t>
            </a:r>
          </a:p>
        </p:txBody>
      </p:sp>
    </p:spTree>
    <p:extLst>
      <p:ext uri="{BB962C8B-B14F-4D97-AF65-F5344CB8AC3E}">
        <p14:creationId xmlns:p14="http://schemas.microsoft.com/office/powerpoint/2010/main" val="38383206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F6F89-33D5-7C97-D4C2-C6F8F86C9E08}"/>
              </a:ext>
            </a:extLst>
          </p:cNvPr>
          <p:cNvSpPr>
            <a:spLocks noGrp="1"/>
          </p:cNvSpPr>
          <p:nvPr>
            <p:ph type="title"/>
          </p:nvPr>
        </p:nvSpPr>
        <p:spPr/>
        <p:txBody>
          <a:bodyPr/>
          <a:lstStyle/>
          <a:p>
            <a:r>
              <a:rPr lang="en-US" dirty="0"/>
              <a:t>Part 2 : Multiple Linear Regression</a:t>
            </a:r>
          </a:p>
        </p:txBody>
      </p:sp>
      <p:sp>
        <p:nvSpPr>
          <p:cNvPr id="3" name="Content Placeholder 2">
            <a:extLst>
              <a:ext uri="{FF2B5EF4-FFF2-40B4-BE49-F238E27FC236}">
                <a16:creationId xmlns:a16="http://schemas.microsoft.com/office/drawing/2014/main" id="{F50E792B-70D7-D8BB-B3A6-45378529599B}"/>
              </a:ext>
            </a:extLst>
          </p:cNvPr>
          <p:cNvSpPr>
            <a:spLocks noGrp="1"/>
          </p:cNvSpPr>
          <p:nvPr>
            <p:ph idx="1"/>
          </p:nvPr>
        </p:nvSpPr>
        <p:spPr/>
        <p:txBody>
          <a:bodyPr>
            <a:normAutofit lnSpcReduction="10000"/>
          </a:bodyPr>
          <a:lstStyle/>
          <a:p>
            <a:r>
              <a:rPr lang="en-US" dirty="0"/>
              <a:t>Dependent Variable: Annual Spending</a:t>
            </a:r>
          </a:p>
          <a:p>
            <a:r>
              <a:rPr lang="en-US" dirty="0"/>
              <a:t>Independent Variables : Annual income, credit score, loyalty years, age, region, employment status, and online shopper status.</a:t>
            </a:r>
          </a:p>
          <a:p>
            <a:r>
              <a:rPr lang="en-US" dirty="0"/>
              <a:t>Results of the MLR model: The multiple linear regression model indicates that only annual income is a statistically significant predictor of annual spending (p-value &lt; 0.001), while credit score, loyalty years, age, region, employment status, and online shopper status do not have a statistically significant effect on annual spending (p-values &gt; 0.05). The R-squared value of 0.6829 indicates that approximately 68.29% of the variance in annual spending can be explained by the independent variables included in the model, while the adjusted R-squared value of 0.6826 suggests that 68.26% of the variance in annual spending can be explained by annual </a:t>
            </a:r>
            <a:r>
              <a:rPr lang="en-US" dirty="0" err="1"/>
              <a:t>income,credit</a:t>
            </a:r>
            <a:r>
              <a:rPr lang="en-US" dirty="0"/>
              <a:t> score, loyalty years, age, region, employment status, and online shopper status, after adjusting for the number of predictors in the model. </a:t>
            </a:r>
          </a:p>
        </p:txBody>
      </p:sp>
    </p:spTree>
    <p:extLst>
      <p:ext uri="{BB962C8B-B14F-4D97-AF65-F5344CB8AC3E}">
        <p14:creationId xmlns:p14="http://schemas.microsoft.com/office/powerpoint/2010/main" val="20876755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F51BB-2BB4-2EE1-12EC-5F3576583F02}"/>
              </a:ext>
            </a:extLst>
          </p:cNvPr>
          <p:cNvSpPr>
            <a:spLocks noGrp="1"/>
          </p:cNvSpPr>
          <p:nvPr>
            <p:ph type="title"/>
          </p:nvPr>
        </p:nvSpPr>
        <p:spPr/>
        <p:txBody>
          <a:bodyPr/>
          <a:lstStyle/>
          <a:p>
            <a:r>
              <a:rPr lang="en-US" dirty="0"/>
              <a:t>Multicollinearity</a:t>
            </a:r>
          </a:p>
        </p:txBody>
      </p:sp>
      <p:sp>
        <p:nvSpPr>
          <p:cNvPr id="3" name="Content Placeholder 2">
            <a:extLst>
              <a:ext uri="{FF2B5EF4-FFF2-40B4-BE49-F238E27FC236}">
                <a16:creationId xmlns:a16="http://schemas.microsoft.com/office/drawing/2014/main" id="{25359BF2-4B48-AC7B-79A8-182B9A96800F}"/>
              </a:ext>
            </a:extLst>
          </p:cNvPr>
          <p:cNvSpPr>
            <a:spLocks noGrp="1"/>
          </p:cNvSpPr>
          <p:nvPr>
            <p:ph idx="1"/>
          </p:nvPr>
        </p:nvSpPr>
        <p:spPr/>
        <p:txBody>
          <a:bodyPr/>
          <a:lstStyle/>
          <a:p>
            <a:r>
              <a:rPr lang="en-US" dirty="0"/>
              <a:t>Checked for multicollinearity(VIF) in the MLR Model.</a:t>
            </a:r>
          </a:p>
          <a:p>
            <a:r>
              <a:rPr lang="en-US" dirty="0"/>
              <a:t>  Results: The VIF values for all predictors in the multiple linear regression model are below the commonly used threshold of 5, indicating that there is no significant multicollinearity among the independent variables. This suggests that the predictors are not highly correlated with each other, and the model can provide reliable estimates of the coefficients without concerns of inflated standard errors due to multicollinearity.</a:t>
            </a:r>
          </a:p>
        </p:txBody>
      </p:sp>
    </p:spTree>
    <p:extLst>
      <p:ext uri="{BB962C8B-B14F-4D97-AF65-F5344CB8AC3E}">
        <p14:creationId xmlns:p14="http://schemas.microsoft.com/office/powerpoint/2010/main" val="203067148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486</TotalTime>
  <Words>1786</Words>
  <Application>Microsoft Office PowerPoint</Application>
  <PresentationFormat>Widescreen</PresentationFormat>
  <Paragraphs>75</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Trebuchet MS</vt:lpstr>
      <vt:lpstr>Wingdings 3</vt:lpstr>
      <vt:lpstr>Facet</vt:lpstr>
      <vt:lpstr>Capstone Project : Customer  Behaviour  and Retention Analytics</vt:lpstr>
      <vt:lpstr>Project Overview</vt:lpstr>
      <vt:lpstr>Phase 1 : Data Understanding and Cleaning</vt:lpstr>
      <vt:lpstr>Outlier Detection and Treatment</vt:lpstr>
      <vt:lpstr>Phase 2: Feature Engineering &amp; Preprocessing.</vt:lpstr>
      <vt:lpstr>Phase 3 : Exploratory Data Analysis(EDA)</vt:lpstr>
      <vt:lpstr>Multi-Variate Analysis</vt:lpstr>
      <vt:lpstr>Phase 4 :  Descriptive Statistics &amp; Inference</vt:lpstr>
      <vt:lpstr>Confidence Intervals</vt:lpstr>
      <vt:lpstr>Phase 5 : Hypothesis Testing Part A: Parametric Tests</vt:lpstr>
      <vt:lpstr>Part B : Non-Parametric Tests</vt:lpstr>
      <vt:lpstr>Part 6 : Regression Modeling Part A : Simple Linear Regression</vt:lpstr>
      <vt:lpstr>Residual Diagnostics of The SLR Model</vt:lpstr>
      <vt:lpstr>Part 2 : Multiple Linear Regression</vt:lpstr>
      <vt:lpstr>Multicollinearity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allan shear</dc:creator>
  <cp:lastModifiedBy>allan shear</cp:lastModifiedBy>
  <cp:revision>2</cp:revision>
  <dcterms:created xsi:type="dcterms:W3CDTF">2026-03-25T10:26:58Z</dcterms:created>
  <dcterms:modified xsi:type="dcterms:W3CDTF">2026-03-26T08:07:08Z</dcterms:modified>
</cp:coreProperties>
</file>